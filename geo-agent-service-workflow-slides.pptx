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1097280"/>
            <a:ext cx="4206240" cy="42062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3840480"/>
            <a:ext cx="3840480" cy="3840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GEO Agent 서비스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Malgun Gothic"/>
              </a:rPr>
              <a:t>사이트 운영자를 위한 2가지 활용 워크플로우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F1F5F9"/>
                </a:solidFill>
                <a:latin typeface="Malgun Gothic"/>
              </a:rPr>
              <a:t>진단 중심 사용자와 개선 실행 사용자 모두를 위한 안내 자료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26080"/>
            <a:ext cx="25603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관점 1: 평가 자료 수신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926080"/>
            <a:ext cx="283464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관점 2: GEO 기반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217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AE6FD"/>
                </a:solidFill>
                <a:latin typeface="Malgun Gothic"/>
              </a:rPr>
              <a:t>GEO Agent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01/11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요약: 두 가지 사용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첫 장에서 전체 흐름을 한눈에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486400" cy="3474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1) GEO 평가 자료 수신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목적: 현재 사이트 GEO 수준 진단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흐름: 타깃 입력 → 자동 분석 → 평가 리포트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산출물: 점수, 경쟁 격차, 우선 과제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이득: 빠른 현황 파악과 투자 우선순위 확립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303520" cy="3474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D9488"/>
                </a:solidFill>
                <a:latin typeface="Malgun Gothic"/>
              </a:rPr>
              <a:t>2) GEO 기반 사이트 개선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목적: 실반영 가능한 개선안 확보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흐름: 진단 → 전략 → 클론 최적화 루프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산출물: Before/After, 변경 이력, Archive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이득: 반복 최적화로 성과 누적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Malgun Gothic"/>
              </a:rPr>
              <a:t>공통 원칙: 원본 사이트는 직접 수정하지 않고, 로컬 클론에서 안전하게 개선안을 생성 후 운영자가 선택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02/11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GEO Agent가 제공하는 서비스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평가부터 전략 수립, 실행 검증까지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F172A"/>
                </a:solidFill>
                <a:latin typeface="Malgun Gothic"/>
              </a:rPr>
              <a:t>무엇을 제공하나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LLM 관점 인식/인용 가능성 평가, 경쟁 격차 분석, 우선 개선안 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Malgun Gothic"/>
              </a:rPr>
              <a:t>공통 파이프라인</a:t>
            </a:r>
          </a:p>
        </p:txBody>
      </p:sp>
      <p:sp>
        <p:nvSpPr>
          <p:cNvPr id="9" name="Chevron 8"/>
          <p:cNvSpPr/>
          <p:nvPr/>
        </p:nvSpPr>
        <p:spPr>
          <a:xfrm>
            <a:off x="640080" y="2468880"/>
            <a:ext cx="1417320" cy="868680"/>
          </a:xfrm>
          <a:prstGeom prst="chevron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INIT</a:t>
            </a:r>
          </a:p>
        </p:txBody>
      </p:sp>
      <p:sp>
        <p:nvSpPr>
          <p:cNvPr id="10" name="Chevron 9"/>
          <p:cNvSpPr/>
          <p:nvPr/>
        </p:nvSpPr>
        <p:spPr>
          <a:xfrm>
            <a:off x="2130552" y="2468880"/>
            <a:ext cx="1417320" cy="86868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ANALYZING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3621024" y="2468880"/>
            <a:ext cx="1417320" cy="86868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CLONING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5111496" y="2468880"/>
            <a:ext cx="1417320" cy="86868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STRATEGIZING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6601968" y="2468880"/>
            <a:ext cx="1417320" cy="8686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OPTIMIZING</a:t>
            </a:r>
          </a:p>
        </p:txBody>
      </p:sp>
      <p:sp>
        <p:nvSpPr>
          <p:cNvPr id="14" name="Chevron 13"/>
          <p:cNvSpPr/>
          <p:nvPr/>
        </p:nvSpPr>
        <p:spPr>
          <a:xfrm>
            <a:off x="8092440" y="2468880"/>
            <a:ext cx="1417320" cy="86868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VALIDATING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9582912" y="2468880"/>
            <a:ext cx="1417320" cy="868680"/>
          </a:xfrm>
          <a:prstGeom prst="chevro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REPORTING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11073384" y="2468880"/>
            <a:ext cx="1417320" cy="868680"/>
          </a:xfrm>
          <a:prstGeom prst="chevron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Malgun Gothic"/>
              </a:rPr>
              <a:t>읽기 전용 원칙 + 로컬 클론 기반 안전 실험 + 변경 전/후 근거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03/11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관점 1: 평가 자료를 받아보는 사용자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빠른 진단과 의사결정 중심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486400" cy="4297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워크플로우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1. 대상 등록 (URL + 비즈니스 맥락)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2. 자동 분석 (구조/가독성/인용 가능성)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3. 경쟁 비교 (강점/약점 도출)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4. 리포트 수신 (점수/등급/개선 후보)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212080" cy="42976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B45309"/>
                </a:solidFill>
                <a:latin typeface="Malgun Gothic"/>
              </a:rPr>
              <a:t>즉시 활용 포인트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내부 공유용 현황 자료로 즉시 활용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Quick Win 과제와 중장기 과제 분리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의사결정자/실무자 간 공통 기준 정렬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04/11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관점 1: 받게 되는 산출물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보고서 소비자 관점에서 필요한 결과 중심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F172A"/>
                </a:solidFill>
                <a:latin typeface="Malgun Gothic"/>
              </a:rPr>
              <a:t>Executive Summary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종합 GEO 점수/등급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핵심 리스크 3~5개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우선순위 기반 개선 기대효과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F172A"/>
                </a:solidFill>
                <a:latin typeface="Malgun Gothic"/>
              </a:rPr>
              <a:t>진단 리포트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차원별 점수와 취약 섹션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경쟁 사이트 대비 갭 분석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근거 기반 해석 포인트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440680" cy="1920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D9488"/>
                </a:solidFill>
                <a:latin typeface="Malgun Gothic"/>
              </a:rPr>
              <a:t>실행 백로그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즉시 개선 항목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구조 개선 항목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실험 필요 항목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31920"/>
            <a:ext cx="5257800" cy="1920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BE185D"/>
                </a:solidFill>
                <a:latin typeface="Malgun Gothic"/>
              </a:rPr>
              <a:t>의사결정 포맷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경영진용 요약본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실무팀용 체크리스트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협업용 공통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05/11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관점 1: 기대 이득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정량 근거 기반 의사결정 체계 확립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611880" cy="3840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비즈니스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감 중심 논의를 데이터 중심으로 전환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한정된 리소스를 효과 높은 과제에 집중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611880" cy="3840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D9488"/>
                </a:solidFill>
                <a:latin typeface="Malgun Gothic"/>
              </a:rPr>
              <a:t>운영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개발·콘텐츠·마케팅 간 기준 정렬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개선 우선순위 충돌 감소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3611880" cy="3840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C2410C"/>
                </a:solidFill>
                <a:latin typeface="Malgun Gothic"/>
              </a:rPr>
              <a:t>리스크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대규모 개편 전 잠재 리스크 조기 탐지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잘못된 가설에 대한 과잉 투자 방지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06/11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관점 2: GEO를 통해 사이트를 개선하려는 사용자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실행 가능한 결과 확보와 반복 최적화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972800" cy="1234440"/>
          </a:xfrm>
          <a:prstGeom prst="roundRect">
            <a:avLst/>
          </a:prstGeom>
          <a:solidFill>
            <a:srgbClr val="E8FA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891B2"/>
                </a:solidFill>
                <a:latin typeface="Malgun Gothic"/>
              </a:rPr>
              <a:t>목표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진단을 넘어 실반영 가능한 개선안을 확보하고, 루프 기반으로 점수/성과를 지속 상승</a:t>
            </a:r>
          </a:p>
        </p:txBody>
      </p:sp>
      <p:sp>
        <p:nvSpPr>
          <p:cNvPr id="8" name="Chevron 7"/>
          <p:cNvSpPr/>
          <p:nvPr/>
        </p:nvSpPr>
        <p:spPr>
          <a:xfrm>
            <a:off x="640080" y="2468880"/>
            <a:ext cx="1417320" cy="868680"/>
          </a:xfrm>
          <a:prstGeom prst="chevron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ANALYZE</a:t>
            </a:r>
          </a:p>
        </p:txBody>
      </p:sp>
      <p:sp>
        <p:nvSpPr>
          <p:cNvPr id="9" name="Chevron 8"/>
          <p:cNvSpPr/>
          <p:nvPr/>
        </p:nvSpPr>
        <p:spPr>
          <a:xfrm>
            <a:off x="2130552" y="2468880"/>
            <a:ext cx="1417320" cy="86868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CLONE</a:t>
            </a:r>
          </a:p>
        </p:txBody>
      </p:sp>
      <p:sp>
        <p:nvSpPr>
          <p:cNvPr id="10" name="Chevron 9"/>
          <p:cNvSpPr/>
          <p:nvPr/>
        </p:nvSpPr>
        <p:spPr>
          <a:xfrm>
            <a:off x="3621024" y="2468880"/>
            <a:ext cx="1417320" cy="868680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STRATEGY</a:t>
            </a:r>
          </a:p>
        </p:txBody>
      </p:sp>
      <p:sp>
        <p:nvSpPr>
          <p:cNvPr id="11" name="Chevron 10"/>
          <p:cNvSpPr/>
          <p:nvPr/>
        </p:nvSpPr>
        <p:spPr>
          <a:xfrm>
            <a:off x="5111496" y="2468880"/>
            <a:ext cx="1417320" cy="86868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OPTIMIZE</a:t>
            </a:r>
          </a:p>
        </p:txBody>
      </p:sp>
      <p:sp>
        <p:nvSpPr>
          <p:cNvPr id="12" name="Chevron 11"/>
          <p:cNvSpPr/>
          <p:nvPr/>
        </p:nvSpPr>
        <p:spPr>
          <a:xfrm>
            <a:off x="6601968" y="2468880"/>
            <a:ext cx="1417320" cy="8686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VALIDATE</a:t>
            </a:r>
          </a:p>
        </p:txBody>
      </p:sp>
      <p:sp>
        <p:nvSpPr>
          <p:cNvPr id="13" name="Chevron 12"/>
          <p:cNvSpPr/>
          <p:nvPr/>
        </p:nvSpPr>
        <p:spPr>
          <a:xfrm>
            <a:off x="8092440" y="2468880"/>
            <a:ext cx="1417320" cy="86868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LOOP</a:t>
            </a:r>
          </a:p>
        </p:txBody>
      </p:sp>
      <p:sp>
        <p:nvSpPr>
          <p:cNvPr id="14" name="Chevron 13"/>
          <p:cNvSpPr/>
          <p:nvPr/>
        </p:nvSpPr>
        <p:spPr>
          <a:xfrm>
            <a:off x="9582912" y="2468880"/>
            <a:ext cx="1417320" cy="868680"/>
          </a:xfrm>
          <a:prstGeom prst="chevro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REPORT</a:t>
            </a:r>
          </a:p>
        </p:txBody>
      </p:sp>
      <p:sp>
        <p:nvSpPr>
          <p:cNvPr id="15" name="Chevron 14"/>
          <p:cNvSpPr/>
          <p:nvPr/>
        </p:nvSpPr>
        <p:spPr>
          <a:xfrm>
            <a:off x="11073384" y="2468880"/>
            <a:ext cx="1417320" cy="868680"/>
          </a:xfrm>
          <a:prstGeom prst="chevron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11155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1) 진단 시작  2) 클론 생성  3) 전략 수립  4) 최적화 수행  5) 검증</a:t>
            </a:r>
            <a:br/>
            <a:r>
              <a:t>6) 목표 미달 시 루프백  7) 보고/전달  8) 운영 반영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07/11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관점 2: 최적화 루프 운영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지속 개선을 위한 자동/수동 제어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486400" cy="42976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B45309"/>
                </a:solidFill>
                <a:latin typeface="Malgun Gothic"/>
              </a:rPr>
              <a:t>루프 중단 기준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목표 점수 도달 시 자동 중단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개선폭이 작아지면 중단 (한계 효용)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최대 반복 횟수 도달 시 중단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필요 시 사용자가 수동 중단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212080" cy="4297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사이클마다 확인하는 질문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어떤 변경이 점수 향상에 기여했는가?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어떤 변경은 영향이 미미했는가?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다음 사이클에서 강화/폐기할 전략은?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결과: 검증 가능한 점진 개선 체계 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08/11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관점 2: 최종 전달물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운영 반영 가능한 산출물 패키지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F172A"/>
                </a:solidFill>
                <a:latin typeface="Malgun Gothic"/>
              </a:rPr>
              <a:t>Before / After 리포트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점수 변화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변경 근거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예상 효과를 한눈에 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257800" cy="2011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D9488"/>
                </a:solidFill>
                <a:latin typeface="Malgun Gothic"/>
              </a:rPr>
              <a:t>변경 이력 (Change Record)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파일/영역별 변경 추적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협업과 감사 대응에 유리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1097280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BE185D"/>
                </a:solidFill>
                <a:latin typeface="Malgun Gothic"/>
              </a:rPr>
              <a:t>Archive 패키지 + 반영 방식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구성: original/ + optimized/ + diff/ + report.json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운영자가 내부 검토 후 선별 반영, 배포 정책에 맞춰 단계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09/11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관점 2: 기대 이득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성과·프로세스·조직 관점에서의 실질 가치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611880" cy="3840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성과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LLM 인용 가능성/정확도/커버리지 개선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경쟁군 대비 정보 전달력 향상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611880" cy="3840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0D9488"/>
                </a:solidFill>
                <a:latin typeface="Malgun Gothic"/>
              </a:rPr>
              <a:t>프로세스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검증 후 반영으로 실패 비용 최소화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변경 타당성을 데이터로 설명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3611880" cy="3840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C2410C"/>
                </a:solidFill>
                <a:latin typeface="Malgun Gothic"/>
              </a:rPr>
              <a:t>조직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변경 이유/결과 기록으로 협업 효율 상승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재현 가능한 최적화 플레이북 축적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777240"/>
            <a:ext cx="3291840" cy="329184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Malgun Gothic"/>
              </a:rPr>
              <a:t>언제 어떤 모드를 선택할까?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Malgun Gothic"/>
              </a:rPr>
              <a:t>평가 → 파일럿 개선 → 운영화의 단계적 도입 권장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9728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상황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추천 모드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Malgun Gothic"/>
                        </a:rPr>
                        <a:t>현재 수준 파악이 우선, 빠른 의사결정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Malgun Gothic"/>
                        </a:rPr>
                        <a:t>1) GEO 평가 자료 수신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Malgun Gothic"/>
                        </a:rPr>
                        <a:t>실행 가능한 개선안까지 필요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Malgun Gothic"/>
                        </a:rPr>
                        <a:t>2) GEO 기반 개선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Malgun Gothic"/>
                        </a:rPr>
                        <a:t>예산/인력이 제한적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Malgun Gothic"/>
                        </a:rPr>
                        <a:t>1로 시작 후 핵심 과제만 2로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Malgun Gothic"/>
                        </a:rPr>
                        <a:t>경쟁 심화/콘텐츠 규모 확대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Malgun Gothic"/>
                        </a:rPr>
                        <a:t>2를 기본 운영 모드로 전환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72000"/>
            <a:ext cx="10972800" cy="1371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/>
            <a:r>
              <a:rPr sz="2000" b="1">
                <a:solidFill>
                  <a:srgbClr val="4F46E5"/>
                </a:solidFill>
                <a:latin typeface="Malgun Gothic"/>
              </a:rPr>
              <a:t>결론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334155"/>
                </a:solidFill>
                <a:latin typeface="Malgun Gothic"/>
              </a:rPr>
              <a:t>• GEO Agent는 단순 점수표가 아니라 진단 → 전략 → 실행 → 검증 → 보고를 잇는 운영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Malgun Gothic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